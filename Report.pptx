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530" r:id="rId5"/>
    <p:sldId id="531" r:id="rId6"/>
    <p:sldId id="533" r:id="rId7"/>
    <p:sldId id="534" r:id="rId8"/>
    <p:sldId id="535" r:id="rId9"/>
    <p:sldId id="536" r:id="rId10"/>
    <p:sldId id="547" r:id="rId11"/>
    <p:sldId id="548" r:id="rId12"/>
    <p:sldId id="549" r:id="rId13"/>
    <p:sldId id="550" r:id="rId14"/>
    <p:sldId id="551" r:id="rId15"/>
    <p:sldId id="552" r:id="rId16"/>
    <p:sldId id="553" r:id="rId17"/>
    <p:sldId id="554" r:id="rId18"/>
    <p:sldId id="555" r:id="rId19"/>
    <p:sldId id="54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22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Design and Development of Embedded System and GUI for Pulsating Sensor Based Instrumentation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2000" b="1" dirty="0"/>
              <a:t>Jency Rufina A (23BEL1037)</a:t>
            </a:r>
          </a:p>
          <a:p>
            <a:r>
              <a:rPr lang="en-US" sz="2000" dirty="0"/>
              <a:t>Vellore Institute of Technology, Chennai</a:t>
            </a: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CONTENTS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Introduction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Internship Objectives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Embedded System Design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GUI Design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7" y="3685031"/>
            <a:ext cx="7879474" cy="2381471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1" dirty="0"/>
              <a:t>Internship at IGCAR:</a:t>
            </a:r>
            <a:r>
              <a:rPr lang="en-US" dirty="0"/>
              <a:t> The Electronics and Instrumentation Group develops sensors and systems for fast breeder reactors. 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1" dirty="0"/>
              <a:t>The Need: </a:t>
            </a:r>
            <a:r>
              <a:rPr lang="en-US" dirty="0"/>
              <a:t>Many sensors output TTL pulses where frequency corresponds to a physical parameter (e.g., pH, turbidity, level). There was a need to develop instrumentation to read, process, and display this data effectively. 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1" dirty="0"/>
              <a:t>Project Goal:</a:t>
            </a:r>
            <a:r>
              <a:rPr lang="en-US" dirty="0"/>
              <a:t> To utilize modern, cost-effective, open-source tools (Arduino, Python) for robust instrumentation development.</a:t>
            </a: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120" y="579055"/>
            <a:ext cx="9144000" cy="1069848"/>
          </a:xfrm>
        </p:spPr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1739D8-CDE1-A4D8-36FB-8EB409753B4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58424" y="2172677"/>
            <a:ext cx="1167515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Design a 4-Channel Frequency Meter: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Develop an embedded system to simultaneously measure frequencies from four different pulsating sensors.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Develop a Spirometer: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Create an embedded system for a spirometer to measure key pulmonary diagnostic parameters.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Create Graphical User Interfaces (GUIs):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Build user-friendly desktop applications using Python (PyQt5) to interface with both embedded systems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1. Real-time data visualization and plotting.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2. Statistical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3. Data logging and exporting.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FE8-2F9C-9C12-4EB3-9742EA91D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413" y="38526"/>
            <a:ext cx="9733935" cy="1600200"/>
          </a:xfrm>
        </p:spPr>
        <p:txBody>
          <a:bodyPr/>
          <a:lstStyle/>
          <a:p>
            <a:r>
              <a:rPr lang="en-US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Project 1: 4 channel frequency meter – system architecture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DC8420-CC19-7596-7076-6B718DD5C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144" y="2140171"/>
            <a:ext cx="8628790" cy="4083648"/>
          </a:xfrm>
        </p:spPr>
        <p:txBody>
          <a:bodyPr/>
          <a:lstStyle/>
          <a:p>
            <a:pPr algn="l"/>
            <a:r>
              <a:rPr lang="en-IN" b="1" dirty="0"/>
              <a:t>Goal:</a:t>
            </a:r>
            <a:r>
              <a:rPr lang="en-IN" dirty="0"/>
              <a:t> To create an instrument that reads TTL pulse frequencies from four sensors, displays them locally, and sends data to a PC for advanced analysis.</a:t>
            </a:r>
          </a:p>
          <a:p>
            <a:pPr algn="l"/>
            <a:r>
              <a:rPr lang="en-IN" b="1" dirty="0"/>
              <a:t>Components:</a:t>
            </a:r>
            <a:endParaRPr lang="en-IN" dirty="0"/>
          </a:p>
          <a:p>
            <a:pPr algn="l"/>
            <a:r>
              <a:rPr lang="en-IN" b="1" dirty="0"/>
              <a:t>	Inputs:</a:t>
            </a:r>
            <a:r>
              <a:rPr lang="en-IN" dirty="0"/>
              <a:t> 4 Channels for TTL Pulse Signals</a:t>
            </a:r>
          </a:p>
          <a:p>
            <a:pPr algn="l"/>
            <a:r>
              <a:rPr lang="en-IN" b="1" dirty="0"/>
              <a:t>	Processing:</a:t>
            </a:r>
            <a:r>
              <a:rPr lang="en-IN" dirty="0"/>
              <a:t> Arduino Mega 2560</a:t>
            </a:r>
          </a:p>
          <a:p>
            <a:pPr algn="l"/>
            <a:r>
              <a:rPr lang="en-IN" b="1" dirty="0"/>
              <a:t>	Peripherals:</a:t>
            </a:r>
            <a:r>
              <a:rPr lang="en-IN" dirty="0"/>
              <a:t> DS3231 RTC, TFT LCD Shield, </a:t>
            </a:r>
          </a:p>
          <a:p>
            <a:pPr algn="l"/>
            <a:r>
              <a:rPr lang="en-IN" dirty="0"/>
              <a:t>	                  Micro SD Card</a:t>
            </a:r>
          </a:p>
          <a:p>
            <a:pPr algn="l"/>
            <a:r>
              <a:rPr lang="en-IN" b="1" dirty="0"/>
              <a:t>	Communication:</a:t>
            </a:r>
            <a:r>
              <a:rPr lang="en-IN" dirty="0"/>
              <a:t> UART to PC</a:t>
            </a:r>
          </a:p>
          <a:p>
            <a:pPr algn="l"/>
            <a:r>
              <a:rPr lang="en-IN" b="1" dirty="0"/>
              <a:t>	PC Application:</a:t>
            </a:r>
            <a:r>
              <a:rPr lang="en-IN" dirty="0"/>
              <a:t> PyQt5 GUI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E318B-D756-6C57-8657-96C83632083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411163"/>
            <a:ext cx="522288" cy="31115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image14.png">
            <a:extLst>
              <a:ext uri="{FF2B5EF4-FFF2-40B4-BE49-F238E27FC236}">
                <a16:creationId xmlns:a16="http://schemas.microsoft.com/office/drawing/2014/main" id="{441697A9-4E2B-F69B-3C40-3C7CCD3FCED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614417" y="2859236"/>
            <a:ext cx="5316439" cy="38431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2651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DEE9-2DBD-C997-C208-027230B5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Project 1: Embedded System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CF1F9-4847-1440-0352-6D1284A48D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25E0490-D96C-9885-F40F-0D49A88C42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0392" y="2443586"/>
            <a:ext cx="1114496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Microcontroller: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Arduino Mega 2560 (16MHz clock).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Frequency Measurement: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Utilized four of the 16-bit hardware timers (Timer1, Timer3, Timer4, Timer5) for precise, non-blocking frequency counting. This approach is more accurate and efficient than software-based methods.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Communication Protocols: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I2C: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interfacing with the DS3231 Real-Time Clock.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	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Parallel (8-bit):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driving the TFT LCD Display.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UART: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sending processed data to the GUI on the PC.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72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92BAF-306C-40E5-86C4-848E80719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D78E9-4CCC-7A36-C99A-AC622F806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IN" dirty="0"/>
              <a:t>Project 1: GUI for Sensor Monitoring</a:t>
            </a:r>
            <a:endParaRPr lang="en-US" sz="4000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050FB-28AD-3EB0-6C49-3B854F8D0F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48C23CD-F95B-29CF-3DD2-AF8D6185E4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0392" y="1828034"/>
            <a:ext cx="11144963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Framework:</a:t>
            </a:r>
            <a:r>
              <a:rPr lang="en-US" altLang="en-US" sz="2000" dirty="0">
                <a:latin typeface="Arial" panose="020B0604020202020204" pitchFamily="34" charset="0"/>
              </a:rPr>
              <a:t> Python with PyQt5.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Key Features: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UART Port Configuration: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Easy selection of COM port and baud rate.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Live Plotting: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 "Full Plot" showing all four channels simultaneously and individual "Moving Plots" for a clear view of recent data.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Parameter Conversion: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 user-defined polynomial (Af³+ Bf²+ Cf + D) to convert raw frequency into a meaningful physical parameter.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Statistical Analysis: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On-demand calculation of Mean, Min, Max, Standard Deviation, Skewness, and Kurtosis.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Export: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Save time-stamped data and statistics to an Excel file.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178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888B8-8299-A1A4-4249-490EA9A7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8B9B8-F9A1-F477-CEB2-601906E00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IN" dirty="0"/>
              <a:t>Project 1: Results &amp; Demonstration</a:t>
            </a:r>
            <a:endParaRPr lang="en-US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67162-539B-5676-9203-23DD0FCA9F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image4.jpg">
            <a:extLst>
              <a:ext uri="{FF2B5EF4-FFF2-40B4-BE49-F238E27FC236}">
                <a16:creationId xmlns:a16="http://schemas.microsoft.com/office/drawing/2014/main" id="{5BC4EC09-4D64-62B6-81BE-9E70D90E995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320720" y="1901952"/>
            <a:ext cx="5764287" cy="429313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301996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783010-320B-F9B9-D1AC-13E0255F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DD8877-72F6-4154-86D5-D078FB26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image10.png">
            <a:extLst>
              <a:ext uri="{FF2B5EF4-FFF2-40B4-BE49-F238E27FC236}">
                <a16:creationId xmlns:a16="http://schemas.microsoft.com/office/drawing/2014/main" id="{1BC31A63-0384-AA7A-FBB7-3B08F00C7BC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674774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7E188A-88C2-187F-7B6E-250AC14B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43B8B-E5F4-74BC-1FE5-DFCEA9B19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413" y="38526"/>
            <a:ext cx="9733935" cy="1600200"/>
          </a:xfrm>
        </p:spPr>
        <p:txBody>
          <a:bodyPr/>
          <a:lstStyle/>
          <a:p>
            <a:r>
              <a:rPr lang="en-US" dirty="0"/>
              <a:t>Project 2: Spirometer for Pulmonary Diagnostics</a:t>
            </a:r>
            <a:endParaRPr lang="en-US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2A0F4B9-0948-560F-6FD3-D28DDD3ED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144" y="2140171"/>
            <a:ext cx="11468740" cy="4306666"/>
          </a:xfrm>
        </p:spPr>
        <p:txBody>
          <a:bodyPr/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What is a Spirometer?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latin typeface="Arial" panose="020B0604020202020204" pitchFamily="34" charset="0"/>
              </a:rPr>
              <a:t>A medical device that measures lung function. It's crucial for diagnosing conditions like Asthma and COPD.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Key Parameters Measured:</a:t>
            </a:r>
            <a:endParaRPr lang="en-US" altLang="en-US" dirty="0">
              <a:latin typeface="Arial" panose="020B0604020202020204" pitchFamily="34" charset="0"/>
            </a:endParaRP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FVC (Forced Vital Capacity):</a:t>
            </a:r>
            <a:r>
              <a:rPr lang="en-US" altLang="en-US" dirty="0">
                <a:latin typeface="Arial" panose="020B0604020202020204" pitchFamily="34" charset="0"/>
              </a:rPr>
              <a:t> Total air exhaled forcefully.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FEV1 (Forced Expiratory Volume in 1 sec):</a:t>
            </a:r>
            <a:r>
              <a:rPr lang="en-US" altLang="en-US" dirty="0">
                <a:latin typeface="Arial" panose="020B0604020202020204" pitchFamily="34" charset="0"/>
              </a:rPr>
              <a:t> Air exhaled in the first second.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FEV1/FVC Ratio:</a:t>
            </a:r>
            <a:r>
              <a:rPr lang="en-US" altLang="en-US" dirty="0">
                <a:latin typeface="Arial" panose="020B0604020202020204" pitchFamily="34" charset="0"/>
              </a:rPr>
              <a:t> The primary indicator to distinguish between obstructive and restrictive lung diseases.</a:t>
            </a:r>
          </a:p>
          <a:p>
            <a:pPr lvl="2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Less than 0.7 – Airflow Obstruction : Chronic Obstructive Pulmonary Disorder (COPD)</a:t>
            </a:r>
          </a:p>
          <a:p>
            <a:pPr lvl="2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034BE-8A7B-68AC-33B7-84CB8E15D4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411163"/>
            <a:ext cx="522288" cy="31115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268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41B703-2220-BAEB-EA8B-23B37BC4E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41569F-E6F9-B4E7-6254-21743BB48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261" y="1199535"/>
            <a:ext cx="5773693" cy="3932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41460D-75E8-E328-EC41-EDE18D193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" y="1406014"/>
            <a:ext cx="5552823" cy="328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302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E9154-4CA1-071D-BB42-74B8D953C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1EDB-83CD-DEC0-B0B5-18DB41D0C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IN" dirty="0"/>
              <a:t>Project 2: Spirometer - System Design</a:t>
            </a:r>
            <a:endParaRPr lang="en-US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3A29D-F87D-5536-C018-654F281272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FDA9C40-867D-0C74-3BBC-E4376B32FC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0391" y="1887963"/>
            <a:ext cx="956197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Working Principle: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Based on Bernoulli's principle.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User exhales through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Venturi Tube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creates a pressure difference.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ADP810 differential pressure sensor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measures this difference.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Arduino UNO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reads the pressure data via I2C and sends it to the PC via UART.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GUI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calculates flow rate, volume, and other diagnostic parameters.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Integrity: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CRC-8 algorithm was implemented on the Arduino to ensure data from the sensor was not corrupted</a:t>
            </a:r>
          </a:p>
        </p:txBody>
      </p:sp>
      <p:pic>
        <p:nvPicPr>
          <p:cNvPr id="8" name="image2.png">
            <a:extLst>
              <a:ext uri="{FF2B5EF4-FFF2-40B4-BE49-F238E27FC236}">
                <a16:creationId xmlns:a16="http://schemas.microsoft.com/office/drawing/2014/main" id="{7B08C3AF-920A-946B-3A19-BB0C4F59665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4886631"/>
            <a:ext cx="5687029" cy="160470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863205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D71DD-ACBB-60CE-FCBA-AC5F5CF11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40452-D96E-F431-18A9-E41B9692A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832104"/>
            <a:ext cx="9994392" cy="1069848"/>
          </a:xfrm>
        </p:spPr>
        <p:txBody>
          <a:bodyPr/>
          <a:lstStyle/>
          <a:p>
            <a:r>
              <a:rPr lang="en-IN" dirty="0"/>
              <a:t>Project 2: Spirometer GUI &amp; Results</a:t>
            </a:r>
            <a:endParaRPr lang="en-US" b="1" spc="600" dirty="0">
              <a:ln w="28575">
                <a:noFill/>
                <a:prstDash val="solid"/>
              </a:ln>
              <a:solidFill>
                <a:schemeClr val="bg1"/>
              </a:solidFill>
              <a:latin typeface="Tw Cen MT" panose="020B06020201040206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8C93D4-F412-0BA5-57F3-431EE742DA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AD145BC-D7D1-96F1-725C-958733F9EA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0901" y="2357831"/>
            <a:ext cx="479281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Framework: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Python with PyQt5.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Features: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Real-time Visualization: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Flow vs. Time Plot and the standard diagnostic Flow vs. Volume loop.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Parameter Calculation: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Displays calculated FEV1, FVC, and the FEV1/FVC Ratio.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Export: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Saves the session data to an Excel file for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13.png">
            <a:extLst>
              <a:ext uri="{FF2B5EF4-FFF2-40B4-BE49-F238E27FC236}">
                <a16:creationId xmlns:a16="http://schemas.microsoft.com/office/drawing/2014/main" id="{C638F387-2E5C-DE5D-2A42-7B559F282EA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919020" y="1852246"/>
            <a:ext cx="6099984" cy="468620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661436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9482D-8E0E-DAD9-14A1-B9D23F2F8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8688"/>
            <a:ext cx="9144000" cy="1069848"/>
          </a:xfrm>
        </p:spPr>
        <p:txBody>
          <a:bodyPr/>
          <a:lstStyle/>
          <a:p>
            <a:r>
              <a:rPr lang="en-IN" dirty="0"/>
              <a:t>Conclusion &amp; Learnings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303D587-B700-684D-5131-CA043D9393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1360" y="1895399"/>
            <a:ext cx="1093216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Successfully Developed: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Two complete, functional instrumentation systems combining embedded hardware and PC-based software.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Demonstrated: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effectiveness of open-source tools (Arduino, Python) for rapid and cost-effective development in scientific and medical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Learnings: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Embedded C programming for Arduino and hardware timer configuration.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Interfacing with peripherals using UART, I2C, and Parallel protocols.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GUI development with Python and PyQt5.</a:t>
            </a:r>
          </a:p>
          <a:p>
            <a:pPr lvl="1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End-to-end system integration from sensor to user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550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0FA9-3885-7742-04B8-206CD9B45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1086268"/>
            <a:ext cx="7735824" cy="1069848"/>
          </a:xfrm>
        </p:spPr>
        <p:txBody>
          <a:bodyPr/>
          <a:lstStyle/>
          <a:p>
            <a:r>
              <a:rPr lang="en-IN" dirty="0"/>
              <a:t>Acknowledgements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8F311A-0A42-D4B1-1188-40AA460B9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7627" y="2385650"/>
            <a:ext cx="8290510" cy="3386082"/>
          </a:xfrm>
        </p:spPr>
        <p:txBody>
          <a:bodyPr/>
          <a:lstStyle/>
          <a:p>
            <a:pPr algn="l"/>
            <a:r>
              <a:rPr lang="en-US" sz="2000" dirty="0"/>
              <a:t>I would like to express my sincere gratitude to:</a:t>
            </a:r>
          </a:p>
          <a:p>
            <a:pPr algn="l"/>
            <a:r>
              <a:rPr lang="en-US" sz="2000" b="1" dirty="0"/>
              <a:t>	Dr. Ramesh Sanga</a:t>
            </a:r>
            <a:r>
              <a:rPr lang="en-US" sz="2000" dirty="0"/>
              <a:t> for his invaluable guidance, mentorship, and technical insight.</a:t>
            </a:r>
          </a:p>
          <a:p>
            <a:pPr algn="l"/>
            <a:r>
              <a:rPr lang="en-US" sz="2000" b="1" dirty="0"/>
              <a:t>	Shri M. Sivaramakrishna</a:t>
            </a:r>
            <a:r>
              <a:rPr lang="en-US" sz="2000" dirty="0"/>
              <a:t>, Head, SISD/EIG, for his support and encouragement.</a:t>
            </a:r>
          </a:p>
          <a:p>
            <a:pPr algn="l"/>
            <a:r>
              <a:rPr lang="en-US" sz="2000" b="1" dirty="0"/>
              <a:t>	Indira Gandhi Centre for Atomic Research (IGCAR)</a:t>
            </a:r>
            <a:r>
              <a:rPr lang="en-US" sz="2000" dirty="0"/>
              <a:t> for providing this incredible internship opportunity.</a:t>
            </a:r>
          </a:p>
          <a:p>
            <a:pPr algn="l"/>
            <a:r>
              <a:rPr lang="en-US" sz="2000" b="1" dirty="0"/>
              <a:t>	Vellore Institute of Technology (VIT), Chennai</a:t>
            </a:r>
            <a:r>
              <a:rPr lang="en-US" sz="2000" dirty="0"/>
              <a:t> for laying the academic foundation that made this project possible.</a:t>
            </a:r>
          </a:p>
          <a:p>
            <a:pPr algn="l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49145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Jency Rufina A</a:t>
            </a:r>
          </a:p>
          <a:p>
            <a:pPr algn="l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23BEL1037</a:t>
            </a:r>
          </a:p>
          <a:p>
            <a:pPr algn="l"/>
            <a:r>
              <a:rPr lang="en-US" dirty="0">
                <a:latin typeface="Segoe UI Light" panose="020B0502040204020203" pitchFamily="34" charset="0"/>
                <a:ea typeface="Calibri" panose="020F0502020204030204"/>
                <a:cs typeface="Segoe UI Light" panose="020B0502040204020203" pitchFamily="34" charset="0"/>
              </a:rPr>
              <a:t>ajencyrufina@gmail.com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280</TotalTime>
  <Words>941</Words>
  <Application>Microsoft Office PowerPoint</Application>
  <PresentationFormat>Widescreen</PresentationFormat>
  <Paragraphs>105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Courier New</vt:lpstr>
      <vt:lpstr>Segoe UI Light</vt:lpstr>
      <vt:lpstr>Tw Cen MT</vt:lpstr>
      <vt:lpstr>Wingdings</vt:lpstr>
      <vt:lpstr>Office Theme</vt:lpstr>
      <vt:lpstr>Design and Development of Embedded System and GUI for Pulsating Sensor Based Instrumentation</vt:lpstr>
      <vt:lpstr>CONTENTS</vt:lpstr>
      <vt:lpstr>INTRODUCTION</vt:lpstr>
      <vt:lpstr>Project Objectives</vt:lpstr>
      <vt:lpstr>Project 1: 4 channel frequency meter – system architecture</vt:lpstr>
      <vt:lpstr>Project 1: Embedded System Design</vt:lpstr>
      <vt:lpstr>Project 1: GUI for Sensor Monitoring</vt:lpstr>
      <vt:lpstr>Project 1: Results &amp; Demonstration</vt:lpstr>
      <vt:lpstr>PowerPoint Presentation</vt:lpstr>
      <vt:lpstr>Project 2: Spirometer for Pulmonary Diagnostics</vt:lpstr>
      <vt:lpstr>PowerPoint Presentation</vt:lpstr>
      <vt:lpstr>Project 2: Spirometer - System Design</vt:lpstr>
      <vt:lpstr>Project 2: Spirometer GUI &amp; Results</vt:lpstr>
      <vt:lpstr>Conclusion &amp; Learnings</vt:lpstr>
      <vt:lpstr>Acknowledgements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Jency Rufina A</dc:creator>
  <cp:lastModifiedBy>Jency Rufina A</cp:lastModifiedBy>
  <cp:revision>5</cp:revision>
  <dcterms:created xsi:type="dcterms:W3CDTF">2025-09-23T09:50:20Z</dcterms:created>
  <dcterms:modified xsi:type="dcterms:W3CDTF">2025-09-23T14:30:37Z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